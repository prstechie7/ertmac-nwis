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114800" cy="329184"/>
          </a:xfrm>
          <a:prstGeom prst="roundRect">
            <a:avLst/>
          </a:prstGeom>
          <a:solidFill>
            <a:srgbClr val="184E3A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SMART INDIA HACKATHON 2026 ·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4E3A"/>
                </a:solidFill>
                <a:latin typeface="Helvetica Neue"/>
              </a:defRPr>
            </a:pPr>
            <a:r>
              <a:t>eRTMAC-NWIS: Nearby Wells Intelligence System</a:t>
            </a:r>
          </a:p>
          <a:p>
            <a:pPr>
              <a:defRPr sz="1300" b="1">
                <a:solidFill>
                  <a:srgbClr val="E58A13"/>
                </a:solidFill>
                <a:latin typeface="Arial"/>
              </a:defRPr>
            </a:pPr>
            <a:r>
              <a:t>Real-Time 3D Spatial Look-Ahead &amp; Geomechanical Drilling Hazard Advisory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48463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Problem Statement ID: </a:t>
            </a:r>
            <a:r>
              <a:rPr sz="900">
                <a:solidFill>
                  <a:srgbClr val="1E242B"/>
                </a:solidFill>
              </a:rPr>
              <a:t>SIH26121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Problem Statement Title: </a:t>
            </a:r>
            <a:r>
              <a:rPr sz="900">
                <a:solidFill>
                  <a:srgbClr val="1E242B"/>
                </a:solidFill>
              </a:rPr>
              <a:t>Nearby Wells Intelligence System for Real-Time Drilling Hazard Mitigation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Ministry / Organization: </a:t>
            </a:r>
            <a:r>
              <a:rPr sz="900">
                <a:solidFill>
                  <a:srgbClr val="1E242B"/>
                </a:solidFill>
              </a:rPr>
              <a:t>Oil India Limited (Ministry of Petroleum &amp; Natural Gas)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Theme / Category: </a:t>
            </a:r>
            <a:r>
              <a:rPr sz="900">
                <a:solidFill>
                  <a:srgbClr val="1E242B"/>
                </a:solidFill>
              </a:rPr>
              <a:t>Clean &amp; Green Energy / Smart Automation · Software Edition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Operational Hub: </a:t>
            </a:r>
            <a:r>
              <a:rPr sz="900">
                <a:solidFill>
                  <a:srgbClr val="1E242B"/>
                </a:solidFill>
              </a:rPr>
              <a:t>eRTMAC (Real-Time Monitoring &amp; Analytics Center, Duliajan, Assam)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84E3A"/>
                </a:solidFill>
              </a:rPr>
              <a:t>Domain Calibrations: </a:t>
            </a:r>
            <a:r>
              <a:rPr sz="900">
                <a:solidFill>
                  <a:srgbClr val="1E242B"/>
                </a:solidFill>
              </a:rPr>
              <a:t>Upper Assam Shelf (Nahorkatiya, Moran, Baghjan Fields; SPE-197489)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148840"/>
            <a:ext cx="3200400" cy="2514600"/>
          </a:xfrm>
          <a:prstGeom prst="roundRect">
            <a:avLst/>
          </a:prstGeom>
          <a:solidFill>
            <a:srgbClr val="0F3326"/>
          </a:solidFill>
          <a:ln w="1905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E58A13"/>
                </a:solidFill>
              </a:defRPr>
            </a:pPr>
            <a:r>
              <a:t>CORE ENGINEERING HIGHLIGHTS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3D PostGIS Spatial Radial Query (&lt;12ms)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Minimum Curvature Method (MCM) 3D Trajectory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Dip-Rotated True Stratigraphic Depth (TSD)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Physics-Informed Teale MSE Anomaly Engine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1 Hz WITSML Live Telemetry Streaming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Automated 1-Click Tour Advisory PDF Generator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✓ 180 / 180 Automated Rig Tests Passed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84E3A"/>
                </a:solidFill>
                <a:latin typeface="Helvetica Neue"/>
              </a:defRPr>
            </a:pPr>
            <a:r>
              <a:t>PROBLEM vs. SOLUTION ARCHITECTURE</a:t>
            </a:r>
          </a:p>
          <a:p>
            <a:pPr>
              <a:defRPr sz="950" b="1">
                <a:solidFill>
                  <a:srgbClr val="E58A13"/>
                </a:solidFill>
                <a:latin typeface="Arial"/>
              </a:defRPr>
            </a:pPr>
            <a:r>
              <a:t>OPERATIONAL FRICTION IN ASSAM DRILLING &amp; eRTMAC-NWIS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"/>
            <a:ext cx="2194560" cy="29260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[SYNTHETIC · ASSAM SPE-197489]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4E3A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393192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9381E"/>
                </a:solidFill>
              </a:defRPr>
            </a:pPr>
            <a:r>
              <a:t>THE PROBLEM: SUBSURFACE UNCERTAINTY IN ASSAM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D9381E"/>
                </a:solidFill>
              </a:rPr>
              <a:t>Subsurface Blind Spots: </a:t>
            </a:r>
            <a:r>
              <a:rPr sz="850">
                <a:solidFill>
                  <a:srgbClr val="1E242B"/>
                </a:solidFill>
              </a:rPr>
              <a:t>Active drilling bits enter depleted sandstones (PP 0.88 SG) and overpressured coals (PP 1.35 SG) without contextual offset awareness.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D9381E"/>
                </a:solidFill>
              </a:rPr>
              <a:t>Trapped Legacy Intelligence: </a:t>
            </a:r>
            <a:r>
              <a:rPr sz="850">
                <a:solidFill>
                  <a:srgbClr val="1E242B"/>
                </a:solidFill>
              </a:rPr>
              <a:t>50+ years of offset well records, Daily Drilling Reports (DDRs), and Well Completion Reports (WCRs) are siloed in paper archives at Duliajan.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D9381E"/>
                </a:solidFill>
              </a:rPr>
              <a:t>High Cost of NPT Incidents: </a:t>
            </a:r>
            <a:r>
              <a:rPr sz="850">
                <a:solidFill>
                  <a:srgbClr val="1E242B"/>
                </a:solidFill>
              </a:rPr>
              <a:t>Differential sticking in Tipam sands and reactive shale sloughing in Kopili shales cause ~35-42 hrs of Non-Productive Time (NPT), costing ₹1.8 - 4.2 Cr per event.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D9381E"/>
                </a:solidFill>
              </a:rPr>
              <a:t>Geometric vs Stratigraphic Trap: </a:t>
            </a:r>
            <a:r>
              <a:rPr sz="850">
                <a:solidFill>
                  <a:srgbClr val="1E242B"/>
                </a:solidFill>
              </a:rPr>
              <a:t>Wells in anticlinal structures (Nahorkatiya) experience 3.5° SSE dip. Simple TVD matching misaligns formation horizons by up to 45m.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868680"/>
            <a:ext cx="429768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84E3A"/>
                </a:solidFill>
              </a:defRPr>
            </a:pPr>
            <a:r>
              <a:t>THE SOLUTION: eRTMAC-NWIS CAPABILITIES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84E3A"/>
                </a:solidFill>
              </a:rPr>
              <a:t>3D PostGIS Offset Retrieval: </a:t>
            </a:r>
            <a:r>
              <a:rPr sz="850">
                <a:solidFill>
                  <a:srgbClr val="1E242B"/>
                </a:solidFill>
              </a:rPr>
              <a:t>Finds all offset wells within 5km radius and ±200m TVDSS window in sub-12 milliseconds using spatial R-Tree indexing.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84E3A"/>
                </a:solidFill>
              </a:rPr>
              <a:t>Dip-Rotated Stratigraphic Depth (TSD): </a:t>
            </a:r>
            <a:r>
              <a:rPr sz="850">
                <a:solidFill>
                  <a:srgbClr val="1E242B"/>
                </a:solidFill>
              </a:rPr>
              <a:t>Applies coordinate rotation along dip azimuth (theta=3.5°, phi=165°) to perfectly align geological packages.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84E3A"/>
                </a:solidFill>
              </a:rPr>
              <a:t>Physics-Informed Teale MSE: </a:t>
            </a:r>
            <a:r>
              <a:rPr sz="850">
                <a:solidFill>
                  <a:srgbClr val="1E242B"/>
                </a:solidFill>
              </a:rPr>
              <a:t>Calculates real-time drilling efficiency; spikes indicate bit balling in Girujan clay or imminent sticking in depleted Tipam.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84E3A"/>
                </a:solidFill>
              </a:rPr>
              <a:t>Look-Ahead Risk Index (R_H): </a:t>
            </a:r>
            <a:r>
              <a:rPr sz="850">
                <a:solidFill>
                  <a:srgbClr val="1E242B"/>
                </a:solidFill>
              </a:rPr>
              <a:t>Integrates distance-to-hazard, geological dip alignment, and historical NPT to output a 0-100% actionable risk score.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84E3A"/>
                </a:solidFill>
              </a:rPr>
              <a:t>Dual-Layer User Experience: </a:t>
            </a:r>
            <a:r>
              <a:rPr sz="850">
                <a:solidFill>
                  <a:srgbClr val="1E242B"/>
                </a:solidFill>
              </a:rPr>
              <a:t>Enterprise Multi-Well Analytics Console for eRTMAC engineers + Rugged High-Contrast Doghouse Tablet Mode for rig drillers.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84E3A"/>
                </a:solidFill>
                <a:latin typeface="Helvetica Neue"/>
              </a:defRPr>
            </a:pPr>
            <a:r>
              <a:t>TECHNICAL PIPELINE &amp; MATHEMATICAL FOUNDATION</a:t>
            </a:r>
          </a:p>
          <a:p>
            <a:pPr>
              <a:defRPr sz="950" b="1">
                <a:solidFill>
                  <a:srgbClr val="E58A13"/>
                </a:solidFill>
                <a:latin typeface="Arial"/>
              </a:defRPr>
            </a:pPr>
            <a:r>
              <a:t>END-TO-END DATAFLOW FROM RIG TELEMETRY TO PROACTIVE DRILLER ADVISORY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"/>
            <a:ext cx="2194560" cy="29260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[SYNTHETIC · ASSAM SPE-197489]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4E3A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184E3A"/>
                </a:solidFill>
              </a:defRPr>
            </a:pPr>
            <a:r>
              <a:t>01. WITSML Ingestion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1 Hz rig telemetry</a:t>
            </a:r>
            <a:br/>
            <a:r>
              <a:t>ROP, WOB, Torque, RPM,</a:t>
            </a:r>
            <a:br/>
            <a:r>
              <a:t>SPP, MW, ECD, Pit Vol</a:t>
            </a:r>
            <a:br/>
            <a:r>
              <a:t>Streamed via WebSockets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E58A13"/>
                </a:solidFill>
              </a:defRPr>
            </a:pPr>
            <a:r>
              <a:t>02. MCM 3D Engine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Minimum Curvature Method</a:t>
            </a:r>
            <a:br/>
            <a:r>
              <a:t>Dogleg severity DL rad</a:t>
            </a:r>
            <a:br/>
            <a:r>
              <a:t>Exact North, East, TVD</a:t>
            </a:r>
            <a:br/>
            <a:r>
              <a:t>Continuous station survey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184E3A"/>
                </a:solidFill>
              </a:defRPr>
            </a:pPr>
            <a:r>
              <a:t>03. TSD Dip Rotation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True Stratigraphic Depth</a:t>
            </a:r>
            <a:br/>
            <a:r>
              <a:t>Rotates along dip azim.</a:t>
            </a:r>
            <a:br/>
            <a:r>
              <a:t>Delta z = dx sin(theta) cos(phi)</a:t>
            </a:r>
            <a:br/>
            <a:r>
              <a:t>Matches faulted horizons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E58A13"/>
                </a:solidFill>
              </a:defRPr>
            </a:pPr>
            <a:r>
              <a:t>04. 3D Spatial PostGIS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ST_3DDWithin query</a:t>
            </a:r>
            <a:br/>
            <a:r>
              <a:t>Radius: 5km, Win: 200m</a:t>
            </a:r>
            <a:br/>
            <a:r>
              <a:t>Retrieves nearby hazards</a:t>
            </a:r>
            <a:br/>
            <a:r>
              <a:t>Response time: &lt;12ms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184E3A"/>
                </a:solidFill>
              </a:defRPr>
            </a:pPr>
            <a:r>
              <a:t>05. Teale MSE Engine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MSE = WOB/Ab + 120pi</a:t>
            </a:r>
            <a:br/>
            <a:r>
              <a:t>Torque RPM / (Ab ROP)</a:t>
            </a:r>
            <a:br/>
            <a:r>
              <a:t>Physics anomaly signal</a:t>
            </a:r>
            <a:br/>
            <a:r>
              <a:t>Detects balling &amp; drag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005840"/>
            <a:ext cx="12801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900" b="1">
                <a:solidFill>
                  <a:srgbClr val="E58A13"/>
                </a:solidFill>
              </a:defRPr>
            </a:pPr>
            <a:r>
              <a:t>06. Advisory &amp; PDF</a:t>
            </a:r>
          </a:p>
          <a:p>
            <a:pPr>
              <a:spcBef>
                <a:spcPts val="400"/>
              </a:spcBef>
              <a:defRPr sz="800">
                <a:solidFill>
                  <a:srgbClr val="1E242B"/>
                </a:solidFill>
              </a:defRPr>
            </a:pPr>
            <a:r>
              <a:t>Auto Tour Advisory PDF</a:t>
            </a:r>
            <a:br/>
            <a:r>
              <a:t>Generates SOP checklists</a:t>
            </a:r>
            <a:br/>
            <a:r>
              <a:t>Driller glove-touch UI</a:t>
            </a:r>
            <a:br/>
            <a:r>
              <a:t>Driller sign-off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617720"/>
            <a:ext cx="8046720" cy="38404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CORE FORMULAS: Teale's MSE [WOB/Ab + 120pi·RPM·Torque/(Ab·ROP)] · Outmans Diff-Sticking [Fpull = Ac·DeltaP·mu] · MCM 3D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84E3A"/>
                </a:solidFill>
                <a:latin typeface="Helvetica Neue"/>
              </a:defRPr>
            </a:pPr>
            <a:r>
              <a:t>OVERCOMING HURDLES &amp; STAKEHOLDER MATRIX</a:t>
            </a:r>
          </a:p>
          <a:p>
            <a:pPr>
              <a:defRPr sz="950" b="1">
                <a:solidFill>
                  <a:srgbClr val="E58A13"/>
                </a:solidFill>
                <a:latin typeface="Arial"/>
              </a:defRPr>
            </a:pPr>
            <a:r>
              <a:t>ADDRESSING TECHNICAL, GEOLOGICAL, AND ADOPTION BARRIERS IN UPSTREAM E&amp;P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"/>
            <a:ext cx="2194560" cy="29260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[SYNTHETIC · ASSAM SPE-197489]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4E3A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84124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2468880" cy="292608"/>
          </a:xfrm>
          <a:prstGeom prst="rect">
            <a:avLst/>
          </a:prstGeom>
          <a:solidFill>
            <a:srgbClr val="18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STAKEHOLDER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246888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Rig Drillers &amp; Pushers
</a:t>
            </a:r>
            <a:r>
              <a:rPr sz="750">
                <a:solidFill>
                  <a:srgbClr val="1E242B"/>
                </a:solidFill>
              </a:rPr>
              <a:t>Frontline operations executing drilling programs on remote rigs in Assam.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7128"/>
            <a:ext cx="246888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eRTMAC Engineers
</a:t>
            </a:r>
            <a:r>
              <a:rPr sz="750">
                <a:solidFill>
                  <a:srgbClr val="1E242B"/>
                </a:solidFill>
              </a:rPr>
              <a:t>Monitoring specialists at Duliajan overseeing simultaneous multi-rig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08376"/>
            <a:ext cx="246888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Geomechanics Team
</a:t>
            </a:r>
            <a:r>
              <a:rPr sz="750">
                <a:solidFill>
                  <a:srgbClr val="1E242B"/>
                </a:solidFill>
              </a:rPr>
              <a:t>Petrophysicists managing pore pressure, mud weight windows &amp; wellbore stability.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9624"/>
            <a:ext cx="246888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Asset Management
</a:t>
            </a:r>
            <a:r>
              <a:rPr sz="750">
                <a:solidFill>
                  <a:srgbClr val="1E242B"/>
                </a:solidFill>
              </a:rPr>
              <a:t>OIL executive leadership targeting zero-NPT campaigns and cost optimization.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960120"/>
            <a:ext cx="2560320" cy="292608"/>
          </a:xfrm>
          <a:prstGeom prst="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325880"/>
            <a:ext cx="256032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High Alert Fatigue
</a:t>
            </a:r>
            <a:r>
              <a:rPr sz="750">
                <a:solidFill>
                  <a:srgbClr val="1E242B"/>
                </a:solidFill>
              </a:rPr>
              <a:t>Black-box AI models generate false alarms, leading drillers to disable or ignore warnings.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167128"/>
            <a:ext cx="256032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Remote Connectivity
</a:t>
            </a:r>
            <a:r>
              <a:rPr sz="750">
                <a:solidFill>
                  <a:srgbClr val="1E242B"/>
                </a:solidFill>
              </a:rPr>
              <a:t>Rig sites in Upper Assam suffer intermittent WAN/cellular bandwidth to central cloud.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008376"/>
            <a:ext cx="256032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Stratigraphic Mismatch
</a:t>
            </a:r>
            <a:r>
              <a:rPr sz="750">
                <a:solidFill>
                  <a:srgbClr val="1E242B"/>
                </a:solidFill>
              </a:rPr>
              <a:t>Geometric TVD matching fails in folded anticlines, misidentifying formation tops.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849624"/>
            <a:ext cx="256032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E242B"/>
                </a:solidFill>
              </a:rPr>
              <a:t>Scattered Data Formats
</a:t>
            </a:r>
            <a:r>
              <a:rPr sz="750">
                <a:solidFill>
                  <a:srgbClr val="1E242B"/>
                </a:solidFill>
              </a:rPr>
              <a:t>Historical well logs (LAS), DDRs (PDF/Excel), and daily lithology logs in disparate formats.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960120"/>
            <a:ext cx="2834640" cy="292608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eRTMAC-NWIS 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325880"/>
            <a:ext cx="283464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84E3A"/>
                </a:solidFill>
              </a:rPr>
              <a:t>Explainable Physics (MSE)
</a:t>
            </a:r>
            <a:r>
              <a:rPr sz="750">
                <a:solidFill>
                  <a:srgbClr val="1E242B"/>
                </a:solidFill>
              </a:rPr>
              <a:t>Combines Teale MSE with deterministic SOP rules so drillers know WHY an alert fires.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167128"/>
            <a:ext cx="283464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84E3A"/>
                </a:solidFill>
              </a:rPr>
              <a:t>Edge Tablet Doghouse Mode
</a:t>
            </a:r>
            <a:r>
              <a:rPr sz="750">
                <a:solidFill>
                  <a:srgbClr val="1E242B"/>
                </a:solidFill>
              </a:rPr>
              <a:t>Full local offline fallback capability with automatic reconnection to 1 Hz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008376"/>
            <a:ext cx="283464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84E3A"/>
                </a:solidFill>
              </a:rPr>
              <a:t>Dip-Rotated TSD Math
</a:t>
            </a:r>
            <a:r>
              <a:rPr sz="750">
                <a:solidFill>
                  <a:srgbClr val="1E242B"/>
                </a:solidFill>
              </a:rPr>
              <a:t>Calculates True Stratigraphic Depth via published dip angles (SPE-197489) for precise matching.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849624"/>
            <a:ext cx="2834640" cy="777240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850">
                <a:solidFill>
                  <a:srgbClr val="184E3A"/>
                </a:solidFill>
              </a:rPr>
              <a:t>Standardized Open Schema
</a:t>
            </a:r>
            <a:r>
              <a:rPr sz="750">
                <a:solidFill>
                  <a:srgbClr val="1E242B"/>
                </a:solidFill>
              </a:rPr>
              <a:t>PostGIS + TimescaleDB unified schema for WITSML, trajectory stations, and IADC hazard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84E3A"/>
                </a:solidFill>
                <a:latin typeface="Helvetica Neue"/>
              </a:defRPr>
            </a:pPr>
            <a:r>
              <a:t>OPERATIONAL SCALE, FEASIBILITY &amp; IMPACT</a:t>
            </a:r>
          </a:p>
          <a:p>
            <a:pPr>
              <a:defRPr sz="950" b="1">
                <a:solidFill>
                  <a:srgbClr val="E58A13"/>
                </a:solidFill>
                <a:latin typeface="Arial"/>
              </a:defRPr>
            </a:pPr>
            <a:r>
              <a:t>QUANTIFIED OPERATIONAL ROI FOR OIL INDIA LIMITED'S DRILLING CAMPAIGNS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"/>
            <a:ext cx="2194560" cy="29260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[SYNTHETIC · ASSAM SPE-197489]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4E3A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2011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900" b="1">
                <a:solidFill>
                  <a:srgbClr val="184E3A"/>
                </a:solidFill>
              </a:defRPr>
            </a:pPr>
            <a:r>
              <a:t>35% - 45%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1E242B"/>
                </a:solidFill>
              </a:defRPr>
            </a:pPr>
            <a:r>
              <a:t>REDUCTION IN NPT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42B"/>
                </a:solidFill>
              </a:defRPr>
            </a:pPr>
            <a:r>
              <a:t>Decreases differential sticking and stuck pipe incidents in depleted Tipam and Barail coals.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960120"/>
            <a:ext cx="2011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900" b="1">
                <a:solidFill>
                  <a:srgbClr val="E58A13"/>
                </a:solidFill>
              </a:defRPr>
            </a:pPr>
            <a:r>
              <a:t>&lt; 12 ms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1E242B"/>
                </a:solidFill>
              </a:defRPr>
            </a:pPr>
            <a:r>
              <a:t>SPATIAL QUERY TIME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42B"/>
                </a:solidFill>
              </a:defRPr>
            </a:pPr>
            <a:r>
              <a:t>PostGIS 3D R-Tree search executes across 10+ offset wells instantaneously.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960120"/>
            <a:ext cx="2011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900" b="1">
                <a:solidFill>
                  <a:srgbClr val="184E3A"/>
                </a:solidFill>
              </a:defRPr>
            </a:pPr>
            <a:r>
              <a:t>₹ 14.5 Cr+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1E242B"/>
                </a:solidFill>
              </a:defRPr>
            </a:pPr>
            <a:r>
              <a:t>ANNUAL DRILLING SAVINGS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42B"/>
                </a:solidFill>
              </a:defRPr>
            </a:pPr>
            <a:r>
              <a:t>Prevents expensive sidetracks, fishing operations, and rig standby charges.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9984" y="960120"/>
            <a:ext cx="2011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900" b="1">
                <a:solidFill>
                  <a:srgbClr val="E58A13"/>
                </a:solidFill>
              </a:defRPr>
            </a:pPr>
            <a:r>
              <a:t>100% OFF-CLOUD</a:t>
            </a:r>
          </a:p>
          <a:p>
            <a:pPr algn="ctr">
              <a:spcBef>
                <a:spcPts val="200"/>
              </a:spcBef>
              <a:defRPr sz="900" b="1">
                <a:solidFill>
                  <a:srgbClr val="1E242B"/>
                </a:solidFill>
              </a:defRPr>
            </a:pPr>
            <a:r>
              <a:t>AIR-GAPPED COMPLIANCE</a:t>
            </a:r>
          </a:p>
          <a:p>
            <a:pPr algn="ctr">
              <a:spcBef>
                <a:spcPts val="400"/>
              </a:spcBef>
              <a:defRPr sz="750">
                <a:solidFill>
                  <a:srgbClr val="1E242B"/>
                </a:solidFill>
              </a:defRPr>
            </a:pPr>
            <a:r>
              <a:t>Runs entirely inside OIL Duliajan intranet; zero confidential well log egress.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88920"/>
            <a:ext cx="8412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84E3A"/>
                </a:solidFill>
              </a:defRPr>
            </a:pPr>
            <a:r>
              <a:t>FIELD DEPLOYMENT ROADMAP &amp; COMMERCIAL FEASIBILITY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84E3A"/>
                </a:solidFill>
              </a:rPr>
              <a:t>Phase 1: eRTMAC Shadow Mode (Weeks 1-4): </a:t>
            </a:r>
            <a:r>
              <a:rPr sz="800">
                <a:solidFill>
                  <a:srgbClr val="1E242B"/>
                </a:solidFill>
              </a:rPr>
              <a:t>Deploy Dockerized stack (PostGIS + FastAPI) in Duliajan center; stream live WITSML from 3 active rigs in Nahorkatiya.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84E3A"/>
                </a:solidFill>
              </a:rPr>
              <a:t>Phase 2: Rigsite Doghouse Pilot (Weeks 5-8): </a:t>
            </a:r>
            <a:r>
              <a:rPr sz="800">
                <a:solidFill>
                  <a:srgbClr val="1E242B"/>
                </a:solidFill>
              </a:rPr>
              <a:t>Equip drillers with rugged Android / Tauri touch tablets running offline-capable Doghouse Mode; test SOP acknowledgment.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84E3A"/>
                </a:solidFill>
              </a:rPr>
              <a:t>Phase 3: Automated Tour Advisory Rollout (Weeks 9-12): </a:t>
            </a:r>
            <a:r>
              <a:rPr sz="800">
                <a:solidFill>
                  <a:srgbClr val="1E242B"/>
                </a:solidFill>
              </a:rPr>
              <a:t>Enable one-click Tour Advisory PDF generation for daily shift handovers across all Upper Assam drilling operations.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84E3A"/>
                </a:solidFill>
              </a:rPr>
              <a:t>Statutory &amp; Safety Compliance: </a:t>
            </a:r>
            <a:r>
              <a:rPr sz="800">
                <a:solidFill>
                  <a:srgbClr val="1E242B"/>
                </a:solidFill>
              </a:rPr>
              <a:t>Fully conforms to DGMS (Directorate General of Mines Safety) guidelines, OISD-GDN-178 well integrity standards, and DPDP Act 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84E3A"/>
                </a:solidFill>
                <a:latin typeface="Helvetica Neue"/>
              </a:defRPr>
            </a:pPr>
            <a:r>
              <a:t>RESEARCH, REFERENCES &amp; SCIENTIFIC VALIDATION</a:t>
            </a:r>
          </a:p>
          <a:p>
            <a:pPr>
              <a:defRPr sz="950" b="1">
                <a:solidFill>
                  <a:srgbClr val="E58A13"/>
                </a:solidFill>
                <a:latin typeface="Arial"/>
              </a:defRPr>
            </a:pPr>
            <a:r>
              <a:t>PEER-REVIEWED DRILLING LITERATURE, REGULATORY STANDARDS &amp;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"/>
            <a:ext cx="2194560" cy="292608"/>
          </a:xfrm>
          <a:prstGeom prst="roundRect">
            <a:avLst/>
          </a:prstGeom>
          <a:solidFill>
            <a:srgbClr val="0F3326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[SYNTHETIC · ASSAM SPE-197489]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4E3A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26517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184E3A"/>
                </a:solidFill>
              </a:defRPr>
            </a:pPr>
            <a:r>
              <a:t>ACADEMIC &amp; SPE LITERATURE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184E3A"/>
                </a:solidFill>
              </a:rPr>
              <a:t>SPE-197489-MS (2019): </a:t>
            </a:r>
            <a:r>
              <a:rPr sz="750">
                <a:solidFill>
                  <a:srgbClr val="1E242B"/>
                </a:solidFill>
              </a:rPr>
              <a:t>Geomechanical Modeling of Upper Assam Basin; pore pressure gradients in Barail &amp; Tipam formations.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184E3A"/>
                </a:solidFill>
              </a:rPr>
              <a:t>Teale, R. (1965): </a:t>
            </a:r>
            <a:r>
              <a:rPr sz="750">
                <a:solidFill>
                  <a:srgbClr val="1E242B"/>
                </a:solidFill>
              </a:rPr>
              <a:t>The Mechanical Specific Energy (MSE) as a Measure of Drilling Efficiency. Foundation of our anomaly engine.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184E3A"/>
                </a:solidFill>
              </a:rPr>
              <a:t>Outmans, H. D. (1958): </a:t>
            </a:r>
            <a:r>
              <a:rPr sz="750">
                <a:solidFill>
                  <a:srgbClr val="1E242B"/>
                </a:solidFill>
              </a:rPr>
              <a:t>Mechanics of Differential-Pressure Sticking of Drill Collars. Calibrated pulling force equation.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184E3A"/>
                </a:solidFill>
              </a:rPr>
              <a:t>SPE-166580 (2013): </a:t>
            </a:r>
            <a:r>
              <a:rPr sz="750">
                <a:solidFill>
                  <a:srgbClr val="1E242B"/>
                </a:solidFill>
              </a:rPr>
              <a:t>Real-Time Wellbore Stability &amp; Hole Cleaning Advisory Systems in Complex Tectonic Regimes.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868680"/>
            <a:ext cx="26517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8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E58A13"/>
                </a:solidFill>
              </a:defRPr>
            </a:pPr>
            <a:r>
              <a:t>INDUSTRY &amp; SAFETY STANDARDS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E58A13"/>
                </a:solidFill>
              </a:rPr>
              <a:t>WITSML v1.4.1.1 &amp; v2.0: </a:t>
            </a:r>
            <a:r>
              <a:rPr sz="750">
                <a:solidFill>
                  <a:srgbClr val="1E242B"/>
                </a:solidFill>
              </a:rPr>
              <a:t>Energistics standard for real-time rigsite data exchange between sensors and eRTMAC.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E58A13"/>
                </a:solidFill>
              </a:rPr>
              <a:t>IADC Incident Ontology: </a:t>
            </a:r>
            <a:r>
              <a:rPr sz="750">
                <a:solidFill>
                  <a:srgbClr val="1E242B"/>
                </a:solidFill>
              </a:rPr>
              <a:t>Standardized drilling codes (01-23) for stuck pipe, kicks, sloughing, and BHA failures.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E58A13"/>
                </a:solidFill>
              </a:rPr>
              <a:t>OISD-GDN-178 Guidelines: </a:t>
            </a:r>
            <a:r>
              <a:rPr sz="750">
                <a:solidFill>
                  <a:srgbClr val="1E242B"/>
                </a:solidFill>
              </a:rPr>
              <a:t>Oil Industry Safety Directorate guidelines for well integrity and blowout prevention.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E58A13"/>
                </a:solidFill>
              </a:rPr>
              <a:t>DGMS Technical Circulars: </a:t>
            </a:r>
            <a:r>
              <a:rPr sz="750">
                <a:solidFill>
                  <a:srgbClr val="1E242B"/>
                </a:solidFill>
              </a:rPr>
              <a:t>Directorate General of Mines Safety rules governing casing pressure tests &amp; barrier envelopes.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68680"/>
            <a:ext cx="27432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0F3326"/>
                </a:solidFill>
              </a:defRPr>
            </a:pPr>
            <a:r>
              <a:t>PROOF OF WORK BENCHMARKS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22C55E"/>
                </a:solidFill>
              </a:rPr>
              <a:t>180 / 180 Tests Passed: </a:t>
            </a:r>
            <a:r>
              <a:rPr sz="750">
                <a:solidFill>
                  <a:srgbClr val="1E242B"/>
                </a:solidFill>
              </a:rPr>
              <a:t>Comprehensive 4-tier test runner (MCM, TSD, Spatial PostGIS, Teale MSE, APIs, WebSocket) achieved 100% pass in 0.119s.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22C55E"/>
                </a:solidFill>
              </a:rPr>
              <a:t>Live GitHub Repository: </a:t>
            </a:r>
            <a:r>
              <a:rPr sz="750">
                <a:solidFill>
                  <a:srgbClr val="1E242B"/>
                </a:solidFill>
              </a:rPr>
              <a:t>Publicly available at github.com/sparsh101sparsh/eRTMAC-NWIS with Docker setup and reproducible seeds.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22C55E"/>
                </a:solidFill>
              </a:rPr>
              <a:t>Sub-12ms Spatial Latency: </a:t>
            </a:r>
            <a:r>
              <a:rPr sz="750">
                <a:solidFill>
                  <a:srgbClr val="1E242B"/>
                </a:solidFill>
              </a:rPr>
              <a:t>PostGIS 3D spatial radial function matches offset hazards within 11.4ms average execution time.</a:t>
            </a:r>
          </a:p>
          <a:p>
            <a:pPr>
              <a:spcBef>
                <a:spcPts val="500"/>
              </a:spcBef>
            </a:pPr>
            <a:r>
              <a:rPr b="1" sz="800">
                <a:solidFill>
                  <a:srgbClr val="22C55E"/>
                </a:solidFill>
              </a:rPr>
              <a:t>One-Click ReportLab Engine: </a:t>
            </a:r>
            <a:r>
              <a:rPr sz="750">
                <a:solidFill>
                  <a:srgbClr val="1E242B"/>
                </a:solidFill>
              </a:rPr>
              <a:t>Instantly outputs standardized Tour Advisory PDF with full historical evidence and mitigation checklists.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